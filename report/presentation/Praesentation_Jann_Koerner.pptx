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Titel und Thema des Visualisierungsprojekts. Quelle der Abbildung: experiments/figures/final/02_frankreich_netzwerk.png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Anwendung unterstützt die Suche nach Auffälligkeiten und die Prüfung konkreter Werte. Quelle: Bericht Kapitel 1 und experiments/figures/final/01_uebersicht.png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Exakte Select-Listen und Filter: scripts/build_postgrest_fixture.py. v_cbpf und v_cbet liefern die Länderwerte, v_price den Preis und v_totalpower die Erzeugung.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UTC steht für Coordinated Universal Time. Deutschland verwendet im Mai MESZ beziehungsweise CEST und liegt zwei Stunden vor UTC. Quelle: docs/DATENQUELLEN.md und scripts/build_postgrest_fixture.py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Feldnamen enden in der Seminar-View auf _in_gw, die Größenordnung entspricht jedoch den offiziell dokumentierten MW-Werten. Quelle: scripts/build_postgrest_fixture.py und docs/DATENQUELLEN.md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PostgREST stellt PostgreSQL-Tabellen und Views über eine REST-ähnliche HTTP-Schnittstelle bereit. Das lokale Skript authentifiziert sich, fragt Daten ab und erzeugt eine öffentliche JSON-Datei. Quelle: scripts/build_postgrest_fixture.py, src/Api.elm und .gitlab-ci.yml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Exportskript: scripts/build_postgrest_fixture.py. Prüfung: scripts/validate_dataset.py. Build: .gitlab-ci.yml. Die Plausibilitätsgrenzen sind Sicherheitsprüfungen, keine fachlichen Beweise.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Netzwerkgraph, Zeitreihe und Pixelmatrix lesen denselben State aus Main.elm. Eine Auswahl in einer Ansicht ändert diesen State und wird dadurch in allen Ansichten sichtbar. Quellen: experiments/figures/elm_chord.png, elm_timeline.png und elm_matrix.png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flow.value stammt aus cross_boarder_physical_flow_in_gw. flow.trade stammt aus cross_boarder_electricity_trading_in_gw. abs flow.value bedeutet absoluter Betrag. Quelle: src/View/FlowNetwork.elm und src/Domain.elm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obere Skala zeigt Erzeugung in GW. Die untere Skala zeigt den Fluss des gewählten Landes ebenfalls in GW. Der Preis hat die Einheit EUR/MWh und erscheint deshalb im Detailfeld. Quelle: src/View/TimeSeries.elm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globale Skala macht Farben über alle Länder und Zeitfenster vergleichbar. Quelle: src/View/FlowMatrix.elm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Domain.elm definiert die Fachtypen. Api.elm lädt und decodiert JSON. Main.elm besitzt den einzigen Anwendungszustand. Die drei View-Module berechnen SVG aus den übergebenen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Unveränderliche Daten bedeuten: update verändert den bestehenden State nicht, sondern erzeugt einen neuen Wert. Alle Ansichten bekommen danach denselben Zustand. Quelle: src/Main.elm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Abschlussfolie mit Links zur Anwendung und zum öffentlichen Hochschul-GitLab.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D0A43FD-648F-4E99-915B-37E460AC130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6200" cy="447675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9B24E09-1601-40DC-874A-FFB939BDDAFC}"/>
              </a:ext>
            </a:extLst>
          </p:cNvPr>
          <p:cNvSpPr>
            <a:spLocks noGrp="1"/>
          </p:cNvSpPr>
          <p:nvPr/>
        </p:nvSpPr>
        <p:spPr>
          <a:xfrm>
            <a:off x="933450" y="1123950"/>
            <a:ext cx="5429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Deutschlands Rolle im</a:t>
            </a:r>
          </a:p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europäischen Stromnetz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95B920-2231-4DFF-9EAA-7E21671B3DC6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5048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8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7F1"/>
                </a:solidFill>
                <a:latin typeface="Arial"/>
                <a:ea typeface="Arial"/>
                <a:cs typeface="Arial"/>
              </a:rPr>
              <a:t>Interaktiv gekoppelte Visualisierungen für physische Flüsse, Erzeugungsmix und Preise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BB0311-D40E-457C-A546-5D02943E7E37}"/>
              </a:ext>
            </a:extLst>
          </p:cNvPr>
          <p:cNvSpPr>
            <a:spLocks noGrp="1"/>
          </p:cNvSpPr>
          <p:nvPr/>
        </p:nvSpPr>
        <p:spPr>
          <a:xfrm>
            <a:off x="952500" y="516255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Jann Körner</a:t>
            </a:r>
          </a:p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Informationsvisualisierung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0" y="868557"/>
            <a:ext cx="4476750" cy="51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4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EBA4C2-FCD0-4B49-A839-E1F6749B5B9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Forschungsfrage und Ziel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3CDB00D-9A07-4359-B364-4B201391D158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CECA29-0F8D-4826-BDF8-88E177F09FA1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76A0D2-D0EE-4264-9EB2-F5C59594734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5370"/>
          </a:bodyPr>
          <a:lstStyle/>
          <a:p>
            <a:pPr algn="l">
              <a:defRPr sz="22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Wann importiert oder exportiert Deutschland Strom, mit welchen Ländern findet der physische Austausch statt und wie hängen die Flüsse mit Erzeugungsmix und Preisen zusammen?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D58192D-067B-4AB2-B079-E8642035C85A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4619625" cy="1809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 fontScale="92500" lnSpcReduction="10000"/>
          </a:bodyPr>
          <a:lstStyle/>
          <a:p>
            <a:pPr marL="228600" indent="-114300">
              <a:spcAft>
                <a:spcPts val="900"/>
              </a:spcAft>
              <a:buChar char="•"/>
              <a:defRPr sz="16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lang="de-DE"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Interaktive </a:t>
            </a:r>
            <a:r>
              <a:rPr lang="de-DE"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Visiual</a:t>
            </a:r>
            <a:r>
              <a:rPr lang="de-DE"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-Analytics-Anwendung</a:t>
            </a:r>
          </a:p>
          <a:p>
            <a:pPr marL="228600" indent="-114300">
              <a:spcAft>
                <a:spcPts val="900"/>
              </a:spcAft>
              <a:buChar char="•"/>
              <a:defRPr sz="16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lang="de-DE"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Physischer Stromfluss zw. Deutschland und </a:t>
            </a:r>
            <a:r>
              <a:rPr lang="de-DE"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partner</a:t>
            </a:r>
            <a:r>
              <a:rPr lang="de-DE"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Länder</a:t>
            </a:r>
          </a:p>
          <a:p>
            <a:pPr marL="228600" indent="-114300">
              <a:spcAft>
                <a:spcPts val="900"/>
              </a:spcAft>
              <a:buChar char="•"/>
              <a:defRPr sz="16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lang="de-DE"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Außerdem Strompreise und Erzeugung</a:t>
            </a:r>
          </a:p>
          <a:p>
            <a:pPr marL="228600" indent="-114300">
              <a:spcAft>
                <a:spcPts val="900"/>
              </a:spcAft>
              <a:buChar char="•"/>
              <a:defRPr sz="16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Wechsel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vom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Muster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zu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konkreten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Messwerten</a:t>
            </a:r>
            <a:endParaRPr sz="1650" dirty="0">
              <a:solidFill>
                <a:srgbClr val="182433"/>
              </a:solidFill>
              <a:latin typeface="Arial"/>
              <a:ea typeface="Arial"/>
              <a:cs typeface="Arial"/>
            </a:endParaRPr>
          </a:p>
          <a:p>
            <a:pPr marL="228600" indent="-114300">
              <a:spcAft>
                <a:spcPts val="900"/>
              </a:spcAft>
              <a:buChar char="•"/>
              <a:defRPr sz="16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Explorative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Analyse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ohne</a:t>
            </a:r>
            <a:r>
              <a:rPr sz="165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Kausalbehauptung</a:t>
            </a:r>
            <a:endParaRPr sz="1650" dirty="0">
              <a:solidFill>
                <a:srgbClr val="1824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45156" y="1219200"/>
            <a:ext cx="4045188" cy="485775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55486AF-A021-449B-986F-E3976F2BF8C1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201665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63D3BDA-FF94-498B-BF92-A58C143D8D5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PostgreSQL-Views und verwendete Spalten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98DECFB-A688-4D5A-8EF7-836957E36245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2B3431-9A59-4039-9901-3861F0112AD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Tabelle 9"/>
          <p:cNvGraphicFramePr/>
          <p:nvPr/>
        </p:nvGraphicFramePr>
        <p:xfrm>
          <a:off x="457200" y="1257300"/>
          <a:ext cx="11277600" cy="4229100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Verwendete Spalten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Einheit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v_cbpf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Physischer Grenzfluss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unix_seconds</a:t>
                      </a:r>
                    </a:p>
                    <a:p>
                      <a:r>
                        <a:t>country_name</a:t>
                      </a:r>
                    </a:p>
                    <a:p>
                      <a:r>
                        <a:t>cross_boarder_physical_flow_in_gw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country_id =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v_cbet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Kommerzieller Handel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unix_seconds</a:t>
                      </a:r>
                    </a:p>
                    <a:p>
                      <a:r>
                        <a:t>country_name</a:t>
                      </a:r>
                    </a:p>
                    <a:p>
                      <a:r>
                        <a:t>cross_boarder_electricity_trading_in_gw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country_id =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v_price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Day-Ahead-Preis DE-LU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unix_seconds</a:t>
                      </a:r>
                    </a:p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market_id = DE-LU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EUR/MWh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t>v_totalpower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Erzeugung nach Technologie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unix_seconds und Technologiespalten</a:t>
                      </a:r>
                    </a:p>
                    <a:p>
                      <a:r>
                        <a:t>Details auf der nächsten Folie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country_id =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MW, danach GW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9F686401-6736-4D57-877D-1C430D21C8CD}"/>
              </a:ext>
            </a:extLst>
          </p:cNvPr>
          <p:cNvSpPr>
            <a:spLocks noGrp="1"/>
          </p:cNvSpPr>
          <p:nvPr/>
        </p:nvSpPr>
        <p:spPr>
          <a:xfrm>
            <a:off x="628650" y="552450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0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lang="de-DE" sz="1575" b="0" dirty="0">
                <a:solidFill>
                  <a:srgbClr val="19324A"/>
                </a:solidFill>
                <a:latin typeface="Arial"/>
                <a:ea typeface="Arial"/>
                <a:cs typeface="Arial"/>
              </a:rPr>
              <a:t>Quelle: Energy-Charts-Daten</a:t>
            </a:r>
            <a:endParaRPr sz="1575" b="0" dirty="0">
              <a:solidFill>
                <a:srgbClr val="1932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A80D80D-0F93-4569-8D5B-1222F5D8AC5B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75333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C12024D-575D-4C91-90D0-2F79FEC5569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Zeitraum, Zeitbasis und Preis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7502A0-BF38-40E6-99D6-B16384E4D24E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F1A610-FBEB-4B6C-9143-79DD9C6045A7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7FEE202-6F0B-4E2E-8BFF-9B71BE59ABCD}"/>
              </a:ext>
            </a:extLst>
          </p:cNvPr>
          <p:cNvSpPr>
            <a:spLocks noGrp="1"/>
          </p:cNvSpPr>
          <p:nvPr/>
        </p:nvSpPr>
        <p:spPr>
          <a:xfrm>
            <a:off x="619125" y="1390650"/>
            <a:ext cx="2286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5250" b="1">
                <a:solidFill>
                  <a:srgbClr val="2F6DB2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744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0A5C499-6FF3-40F5-9827-99DC64F759E0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2286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aufeinanderfolgende Stunden</a:t>
            </a:r>
          </a:p>
          <a:p>
            <a:pPr algn="ctr"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im Mai 2025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20DC63F-50AD-4C60-8D3E-51DC7459C8FD}"/>
              </a:ext>
            </a:extLst>
          </p:cNvPr>
          <p:cNvSpPr>
            <a:spLocks noGrp="1"/>
          </p:cNvSpPr>
          <p:nvPr/>
        </p:nvSpPr>
        <p:spPr>
          <a:xfrm>
            <a:off x="3286125" y="1381125"/>
            <a:ext cx="2095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5250" b="1">
                <a:solidFill>
                  <a:srgbClr val="C44545"/>
                </a:solidFill>
                <a:latin typeface="Arial"/>
                <a:ea typeface="Arial"/>
                <a:cs typeface="Arial"/>
              </a:defRPr>
            </a:pPr>
            <a:r>
              <a:rPr sz="5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4DB5A3-0ADF-43DF-B5A7-5066E2BC8EB6}"/>
              </a:ext>
            </a:extLst>
          </p:cNvPr>
          <p:cNvSpPr>
            <a:spLocks noGrp="1"/>
          </p:cNvSpPr>
          <p:nvPr/>
        </p:nvSpPr>
        <p:spPr>
          <a:xfrm>
            <a:off x="3286125" y="2381250"/>
            <a:ext cx="2095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Partnerländer</a:t>
            </a:r>
            <a:r>
              <a:rPr sz="1650" b="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mit</a:t>
            </a:r>
            <a:endParaRPr sz="1650" b="0" dirty="0">
              <a:solidFill>
                <a:srgbClr val="182433"/>
              </a:solidFill>
              <a:latin typeface="Arial"/>
              <a:ea typeface="Arial"/>
              <a:cs typeface="Arial"/>
            </a:endParaRPr>
          </a:p>
          <a:p>
            <a:pPr algn="ctr"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vollständiger</a:t>
            </a:r>
            <a:r>
              <a:rPr sz="1650" b="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Abdeckung</a:t>
            </a:r>
            <a:endParaRPr sz="1650" b="0" dirty="0">
              <a:solidFill>
                <a:srgbClr val="18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972CFA5-6E92-44AE-A1CA-4D3DEA03EA0C}"/>
              </a:ext>
            </a:extLst>
          </p:cNvPr>
          <p:cNvSpPr>
            <a:spLocks noGrp="1"/>
          </p:cNvSpPr>
          <p:nvPr/>
        </p:nvSpPr>
        <p:spPr>
          <a:xfrm>
            <a:off x="5695950" y="1571625"/>
            <a:ext cx="5524500" cy="3714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/>
          </a:bodyPr>
          <a:lstStyle/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UTC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ist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die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einheitliche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Zeitbasis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des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Datensatzes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Im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Mai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liegt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Deutschland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zwei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Stunden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vor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UTC.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v_price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liefert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den Day-Ahead-Preis der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gemeinsamen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Marktzone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Deutschland und Luxemburg in EUR/MWh.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Der Preis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gehört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zur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ausgewählten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 Er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beschreibt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eine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Energiemenge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und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nutzt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deshalb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eine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andere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Einheit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als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die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Leistung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in GW.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Viertelstundenwerte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werden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je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arithmetisch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gemittelt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 Eine Summe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würde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Leistungswerte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künstlich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vervierfachen</a:t>
            </a:r>
            <a:r>
              <a:rPr sz="1575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5510EA5-6918-4A2C-B6E0-548D06A0AA5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41669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39F9776-E919-4B13-A6F0-D5B3D608CB8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Erzeugungsspalten aus v_totalpower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E46DD95-55DD-44A9-86DC-AA272E5BD2EC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1832696-DC94-41A7-AB41-F6A9B024585C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0" name="Tabelle 9"/>
          <p:cNvGraphicFramePr/>
          <p:nvPr/>
        </p:nvGraphicFramePr>
        <p:xfrm>
          <a:off x="457200" y="1190625"/>
          <a:ext cx="11277600" cy="45339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t>Gruppe in Elm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Aus v_totalpower verwendete Spalten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Ausgabe in energy.json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t>Erneuerbare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wind_onshore_in_gw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wind_offshore_in_gw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solar_in_gw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biomass_in_gw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hydro_run_of_river_in_gw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hydro_water_reservoir_in_gw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geothermal_in_gw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generation.renewables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t>Kohle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fossil_brown_coal_lignite_in_gw, fossil_hard_coal_in_gw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generation.coal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fossil_gas_in_gw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generation.gas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t>Sonstige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fossil_oil_in_gw, fossil_coal_derived_gas_in_gw, others_in_gw, waste_in_gw, hydro_pumped_storage_in_gw, nuclear_energy_in_gw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generation.other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BE0A200-4C51-45C5-9757-E3B5CE03033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1382" lnSpcReduction="20000"/>
          </a:bodyPr>
          <a:lstStyle/>
          <a:p>
            <a:pPr algn="ctr">
              <a:defRPr sz="150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Das Exportskript summiert die Technologien je Gruppe und teilt die MW-Werte durch 1.000. Die Anwendung erhält vier Werte in GW pro Stunde.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07860CB-BAFD-4050-8BD8-C717995B334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24395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D6DDDB01-5FB3-458C-A44A-9FF66EB44B0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Datenweg und sichere Bereitstellung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579AAB9-2036-49E0-AFFD-7AE6DD2E3F10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3318C1-507D-40EC-99DF-1EE3E55F0C46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0CB6B86-F321-4FAB-8D84-E971FA9F1EAB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E8F0F8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6632F74-FC79-4F3D-9A81-C5428AB65B66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1438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PostgREST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07AA749-BAA9-44C5-8276-48D91B90E818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4382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HTTP-Zugriff auf</a:t>
            </a:r>
          </a:p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PostgreSQL-Views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130901E-1645-4C66-B5BF-2D4A78A33FA8}"/>
              </a:ext>
            </a:extLst>
          </p:cNvPr>
          <p:cNvSpPr>
            <a:spLocks noGrp="1"/>
          </p:cNvSpPr>
          <p:nvPr/>
        </p:nvSpPr>
        <p:spPr>
          <a:xfrm>
            <a:off x="2667000" y="223837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942443B-2369-4438-9D94-B4CD760A709E}"/>
              </a:ext>
            </a:extLst>
          </p:cNvPr>
          <p:cNvSpPr>
            <a:spLocks noGrp="1"/>
          </p:cNvSpPr>
          <p:nvPr/>
        </p:nvSpPr>
        <p:spPr>
          <a:xfrm>
            <a:off x="2781300" y="2438400"/>
            <a:ext cx="1438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Python-Export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6C7BE76-6BC0-465B-86DA-E8BF5489EE84}"/>
              </a:ext>
            </a:extLst>
          </p:cNvPr>
          <p:cNvSpPr>
            <a:spLocks noGrp="1"/>
          </p:cNvSpPr>
          <p:nvPr/>
        </p:nvSpPr>
        <p:spPr>
          <a:xfrm>
            <a:off x="2781300" y="2876550"/>
            <a:ext cx="14382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build_postgrest_</a:t>
            </a:r>
          </a:p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fixture.py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179E5A6-7F0C-4893-AC91-56C16457D06B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9122965-E06A-4930-8FB2-A23E1C5A4DA4}"/>
              </a:ext>
            </a:extLst>
          </p:cNvPr>
          <p:cNvSpPr>
            <a:spLocks noGrp="1"/>
          </p:cNvSpPr>
          <p:nvPr/>
        </p:nvSpPr>
        <p:spPr>
          <a:xfrm>
            <a:off x="4876800" y="2438400"/>
            <a:ext cx="1438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JSON-Datei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C98AFEC-6BB1-4226-A033-60DE2F544635}"/>
              </a:ext>
            </a:extLst>
          </p:cNvPr>
          <p:cNvSpPr>
            <a:spLocks noGrp="1"/>
          </p:cNvSpPr>
          <p:nvPr/>
        </p:nvSpPr>
        <p:spPr>
          <a:xfrm>
            <a:off x="4876800" y="2876550"/>
            <a:ext cx="14382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public/data/</a:t>
            </a:r>
          </a:p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energy.json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600CF7E-65D9-42C2-AA87-40ED4D13D9B0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5E917F9-D6BE-46C6-8DD9-6866E37799DD}"/>
              </a:ext>
            </a:extLst>
          </p:cNvPr>
          <p:cNvSpPr>
            <a:spLocks noGrp="1"/>
          </p:cNvSpPr>
          <p:nvPr/>
        </p:nvSpPr>
        <p:spPr>
          <a:xfrm>
            <a:off x="6972300" y="2438400"/>
            <a:ext cx="1438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Elm lädt Daten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C0B27B1-44DE-444C-822A-4CC981FB35A7}"/>
              </a:ext>
            </a:extLst>
          </p:cNvPr>
          <p:cNvSpPr>
            <a:spLocks noGrp="1"/>
          </p:cNvSpPr>
          <p:nvPr/>
        </p:nvSpPr>
        <p:spPr>
          <a:xfrm>
            <a:off x="6972300" y="2876550"/>
            <a:ext cx="14382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0826" lnSpcReduction="10000"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Api.elm mit</a:t>
            </a:r>
          </a:p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Http.get und Decoder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D18DCEE-B663-428F-97FD-0A45ACEA0AF8}"/>
              </a:ext>
            </a:extLst>
          </p:cNvPr>
          <p:cNvSpPr>
            <a:spLocks noGrp="1"/>
          </p:cNvSpPr>
          <p:nvPr/>
        </p:nvSpPr>
        <p:spPr>
          <a:xfrm>
            <a:off x="8953500" y="223837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FFF4D0"/>
          </a:solidFill>
          <a:ln w="19050">
            <a:solidFill>
              <a:srgbClr val="D39A00"/>
            </a:solidFill>
            <a:prstDash val="solid"/>
          </a:ln>
        </p:spPr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26B5CA0-CFBF-49D4-A9C8-F3E0FADA1276}"/>
              </a:ext>
            </a:extLst>
          </p:cNvPr>
          <p:cNvSpPr>
            <a:spLocks noGrp="1"/>
          </p:cNvSpPr>
          <p:nvPr/>
        </p:nvSpPr>
        <p:spPr>
          <a:xfrm>
            <a:off x="9067800" y="2438400"/>
            <a:ext cx="14382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C14503B-0691-4BD2-934B-7C75F173DE28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14382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Main.elm und</a:t>
            </a:r>
          </a:p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drei SVG-Views</a:t>
            </a:r>
          </a:p>
        </p:txBody>
      </p:sp>
      <p:cxnSp>
        <p:nvCxnSpPr>
          <p:cNvPr id="47" name="Gerade Verbindung mit Pfeil 46"/>
          <p:cNvCxnSpPr>
            <a:stCxn id="4" idx="3"/>
            <a:endCxn id="7" idx="1"/>
          </p:cNvCxnSpPr>
          <p:nvPr/>
        </p:nvCxnSpPr>
        <p:spPr>
          <a:xfrm>
            <a:off x="2333625" y="2928938"/>
            <a:ext cx="333375" cy="0"/>
          </a:xfrm>
          <a:prstGeom prst="straightConnector1">
            <a:avLst/>
          </a:prstGeom>
          <a:ln w="28575">
            <a:solidFill>
              <a:srgbClr val="2F6DB2"/>
            </a:solidFill>
            <a:prstDash val="solid"/>
            <a:tailEnd type="triangle" w="sm" len="sm"/>
          </a:ln>
        </p:spPr>
      </p:cxnSp>
      <p:cxnSp>
        <p:nvCxnSpPr>
          <p:cNvPr id="48" name="Gerade Verbindung mit Pfeil 47"/>
          <p:cNvCxnSpPr>
            <a:stCxn id="7" idx="3"/>
            <a:endCxn id="10" idx="1"/>
          </p:cNvCxnSpPr>
          <p:nvPr/>
        </p:nvCxnSpPr>
        <p:spPr>
          <a:xfrm>
            <a:off x="4333875" y="2928938"/>
            <a:ext cx="428625" cy="0"/>
          </a:xfrm>
          <a:prstGeom prst="straightConnector1">
            <a:avLst/>
          </a:prstGeom>
          <a:ln w="28575">
            <a:solidFill>
              <a:srgbClr val="2F6DB2"/>
            </a:solidFill>
            <a:prstDash val="solid"/>
            <a:tailEnd type="triangle" w="sm" len="sm"/>
          </a:ln>
        </p:spPr>
      </p:cxnSp>
      <p:cxnSp>
        <p:nvCxnSpPr>
          <p:cNvPr id="49" name="Gerade Verbindung mit Pfeil 48"/>
          <p:cNvCxnSpPr>
            <a:stCxn id="10" idx="3"/>
            <a:endCxn id="13" idx="1"/>
          </p:cNvCxnSpPr>
          <p:nvPr/>
        </p:nvCxnSpPr>
        <p:spPr>
          <a:xfrm>
            <a:off x="6429375" y="2928938"/>
            <a:ext cx="428625" cy="0"/>
          </a:xfrm>
          <a:prstGeom prst="straightConnector1">
            <a:avLst/>
          </a:prstGeom>
          <a:ln w="28575">
            <a:solidFill>
              <a:srgbClr val="2F6DB2"/>
            </a:solidFill>
            <a:prstDash val="solid"/>
            <a:tailEnd type="triangle" w="sm" len="sm"/>
          </a:ln>
        </p:spPr>
      </p:cxnSp>
      <p:cxnSp>
        <p:nvCxnSpPr>
          <p:cNvPr id="50" name="Gerade Verbindung mit Pfeil 49"/>
          <p:cNvCxnSpPr>
            <a:stCxn id="13" idx="3"/>
            <a:endCxn id="16" idx="1"/>
          </p:cNvCxnSpPr>
          <p:nvPr/>
        </p:nvCxnSpPr>
        <p:spPr>
          <a:xfrm>
            <a:off x="8524875" y="2928938"/>
            <a:ext cx="428625" cy="0"/>
          </a:xfrm>
          <a:prstGeom prst="straightConnector1">
            <a:avLst/>
          </a:prstGeom>
          <a:ln w="28575">
            <a:solidFill>
              <a:srgbClr val="2F6DB2"/>
            </a:solidFill>
            <a:prstDash val="solid"/>
            <a:tailEnd type="triangle" w="sm" len="sm"/>
          </a:ln>
        </p:spPr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CE259042-7F9B-45A0-806C-65A5B6E3CA6E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131576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B9E926E1-FBDA-4BA5-8482-493AA74305E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19324A"/>
                </a:solidFill>
                <a:latin typeface="Arial"/>
                <a:ea typeface="Arial"/>
                <a:cs typeface="Arial"/>
              </a:rPr>
              <a:t>Prüfung</a:t>
            </a:r>
            <a:endParaRPr sz="2550" b="1" dirty="0">
              <a:solidFill>
                <a:srgbClr val="1932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611B21F-F806-4CB1-8873-A4E694F4A359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83BC9F4-D07C-43A2-8602-B9804FD4524B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74ABE87-4939-457E-9413-A73BA39DF8B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715000" cy="267653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# validate_dataset.py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len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(samples) == 744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right - left == 3600 for left, right in zip(timestamps, timestamps[1:])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len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(partners) ==11 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</a:rPr>
              <a:t>len</a:t>
            </a:r>
            <a:r>
              <a:rPr lang="de-DE" sz="1275" dirty="0">
                <a:solidFill>
                  <a:srgbClr val="172033"/>
                </a:solidFill>
                <a:latin typeface="Arial"/>
              </a:rPr>
              <a:t>(</a:t>
            </a:r>
            <a:r>
              <a:rPr lang="de-DE" sz="1275" dirty="0" err="1">
                <a:solidFill>
                  <a:srgbClr val="172033"/>
                </a:solidFill>
                <a:latin typeface="Arial"/>
              </a:rPr>
              <a:t>set</a:t>
            </a:r>
            <a:r>
              <a:rPr lang="de-DE" sz="1275" dirty="0">
                <a:solidFill>
                  <a:srgbClr val="172033"/>
                </a:solidFill>
                <a:latin typeface="Arial"/>
              </a:rPr>
              <a:t>(</a:t>
            </a:r>
            <a:r>
              <a:rPr lang="de-DE" sz="1275" dirty="0" err="1">
                <a:solidFill>
                  <a:srgbClr val="172033"/>
                </a:solidFill>
                <a:latin typeface="Arial"/>
              </a:rPr>
              <a:t>partners</a:t>
            </a:r>
            <a:r>
              <a:rPr lang="de-DE" sz="1275" dirty="0">
                <a:solidFill>
                  <a:srgbClr val="172033"/>
                </a:solidFill>
                <a:latin typeface="Arial"/>
              </a:rPr>
              <a:t>)) == </a:t>
            </a:r>
            <a:r>
              <a:rPr lang="de-DE" sz="1275" dirty="0" err="1">
                <a:solidFill>
                  <a:srgbClr val="172033"/>
                </a:solidFill>
                <a:latin typeface="Arial"/>
              </a:rPr>
              <a:t>len</a:t>
            </a:r>
            <a:r>
              <a:rPr lang="de-DE" sz="1275" dirty="0">
                <a:solidFill>
                  <a:srgbClr val="172033"/>
                </a:solidFill>
                <a:latin typeface="Arial"/>
              </a:rPr>
              <a:t>(</a:t>
            </a:r>
            <a:r>
              <a:rPr lang="de-DE" sz="1275" dirty="0" err="1">
                <a:solidFill>
                  <a:srgbClr val="172033"/>
                </a:solidFill>
                <a:latin typeface="Arial"/>
              </a:rPr>
              <a:t>partners</a:t>
            </a:r>
            <a:r>
              <a:rPr lang="de-DE" sz="1275" dirty="0">
                <a:solidFill>
                  <a:srgbClr val="172033"/>
                </a:solidFill>
                <a:latin typeface="Arial"/>
              </a:rPr>
              <a:t>)</a:t>
            </a:r>
            <a:endParaRPr lang="en-US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lang="en-US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Immer pro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Stunde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math.isfinite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(float(value)) 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float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generation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 &gt;= 0 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sum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generation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 &lt; 200 </a:t>
            </a:r>
          </a:p>
          <a:p>
            <a:pPr marL="285750" indent="-285750">
              <a:buFontTx/>
              <a:buChar char="-"/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abs(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flow_value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 for value in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physical_values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 &lt; 20 (pro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Partnerland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34DA598-5D2F-43F0-A397-B9848F0690EE}"/>
              </a:ext>
            </a:extLst>
          </p:cNvPr>
          <p:cNvSpPr>
            <a:spLocks noGrp="1"/>
          </p:cNvSpPr>
          <p:nvPr/>
        </p:nvSpPr>
        <p:spPr>
          <a:xfrm>
            <a:off x="923925" y="111442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Validierung: Was prüft der Code?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20D38D2-2852-4604-8D40-1F4E6AD5DE3D}"/>
              </a:ext>
            </a:extLst>
          </p:cNvPr>
          <p:cNvSpPr>
            <a:spLocks noGrp="1"/>
          </p:cNvSpPr>
          <p:nvPr/>
        </p:nvSpPr>
        <p:spPr>
          <a:xfrm>
            <a:off x="7105653" y="1162050"/>
            <a:ext cx="3095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20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5B6776"/>
                </a:solidFill>
                <a:latin typeface="Arial"/>
                <a:ea typeface="Arial"/>
                <a:cs typeface="Arial"/>
              </a:rPr>
              <a:t>Warum</a:t>
            </a:r>
            <a:r>
              <a:rPr sz="1200" b="1" dirty="0">
                <a:solidFill>
                  <a:srgbClr val="5B677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5B6776"/>
                </a:solidFill>
                <a:latin typeface="Arial"/>
                <a:ea typeface="Arial"/>
                <a:cs typeface="Arial"/>
              </a:rPr>
              <a:t>sind</a:t>
            </a:r>
            <a:r>
              <a:rPr sz="1200" b="1" dirty="0">
                <a:solidFill>
                  <a:srgbClr val="5B6776"/>
                </a:solidFill>
                <a:latin typeface="Arial"/>
                <a:ea typeface="Arial"/>
                <a:cs typeface="Arial"/>
              </a:rPr>
              <a:t> die </a:t>
            </a:r>
            <a:r>
              <a:rPr sz="1200" b="1" dirty="0" err="1">
                <a:solidFill>
                  <a:srgbClr val="5B6776"/>
                </a:solidFill>
                <a:latin typeface="Arial"/>
                <a:ea typeface="Arial"/>
                <a:cs typeface="Arial"/>
              </a:rPr>
              <a:t>Prüfungen</a:t>
            </a:r>
            <a:r>
              <a:rPr sz="1200" b="1" dirty="0">
                <a:solidFill>
                  <a:srgbClr val="5B677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5B6776"/>
                </a:solidFill>
                <a:latin typeface="Arial"/>
                <a:ea typeface="Arial"/>
                <a:cs typeface="Arial"/>
              </a:rPr>
              <a:t>nötig</a:t>
            </a:r>
            <a:r>
              <a:rPr sz="1200" b="1" dirty="0">
                <a:solidFill>
                  <a:srgbClr val="5B677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1B2D3E-3BB6-4340-97CD-C69F45B87AA6}"/>
              </a:ext>
            </a:extLst>
          </p:cNvPr>
          <p:cNvSpPr>
            <a:spLocks noGrp="1"/>
          </p:cNvSpPr>
          <p:nvPr/>
        </p:nvSpPr>
        <p:spPr>
          <a:xfrm>
            <a:off x="6896103" y="1800225"/>
            <a:ext cx="4400550" cy="2857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 fontScale="97123"/>
          </a:bodyPr>
          <a:lstStyle/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744 Samples: Der Mai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ist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mit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744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vollständig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3.600 s Abstand: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Aufeinanderfolgende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haben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keine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Lücke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Gleiche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Partner: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Jede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Stunde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enthält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dieselben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elf Länder.</a:t>
            </a:r>
          </a:p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Endliche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Werte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: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NaN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oder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±∞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würden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Skalen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und SVG-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Pfade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zerstören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Erzeugung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≥ 0: Negative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Erzeugungsleistung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ist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in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diesem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Datensatz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unzulässig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28600" indent="-114300">
              <a:spcAft>
                <a:spcPts val="400"/>
              </a:spcAft>
              <a:buChar char="•"/>
              <a:defRPr sz="1238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Grenzen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&lt; 200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bzw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. |Fluss| &lt; 20 GW: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grobe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Ausreißer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oder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</a:t>
            </a:r>
            <a:r>
              <a:rPr sz="1238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Einheitenfehler</a:t>
            </a:r>
            <a:r>
              <a:rPr sz="1238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fallen auf.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68E20F0-C1A6-4988-BD17-B83760A56AD0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62748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B701F14C-8B41-431A-BEC8-9CB75599430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Drei gekoppelte Ansichten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5BE7CA9-CA29-4AA5-ABFE-DC58BBF27EDE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1CD1D31-7FAB-4960-98AE-600D775D9596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6200" y="1190625"/>
            <a:ext cx="3297726" cy="314325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09248" y="1190625"/>
            <a:ext cx="3964503" cy="31432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B86F7EF-3967-4E63-BF1C-C3859708DBE6}"/>
              </a:ext>
            </a:extLst>
          </p:cNvPr>
          <p:cNvSpPr>
            <a:spLocks noGrp="1"/>
          </p:cNvSpPr>
          <p:nvPr/>
        </p:nvSpPr>
        <p:spPr>
          <a:xfrm>
            <a:off x="1762125" y="4476750"/>
            <a:ext cx="866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0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Gemeinsamer State in Main.elm: selectedPartner · selectedIndex · windowStart · windowSize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63511" y="4953000"/>
            <a:ext cx="3464978" cy="157162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9C39A781-406E-4103-88DD-F63737BDA99C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174116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B169148-7FB9-4206-9B0E-59E52CBDA53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Gerichteter Netzwerkgraph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89A6777-19A1-4953-88FB-BF06670A7012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36A6B8C-98B6-4C59-A787-F8AC4007ACA5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7823" y="1200150"/>
            <a:ext cx="4996554" cy="4762500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009A117-955A-466E-9D91-9EBBD3F45678}"/>
              </a:ext>
            </a:extLst>
          </p:cNvPr>
          <p:cNvSpPr>
            <a:spLocks noGrp="1"/>
          </p:cNvSpPr>
          <p:nvPr/>
        </p:nvSpPr>
        <p:spPr>
          <a:xfrm>
            <a:off x="6096000" y="1571625"/>
            <a:ext cx="5429250" cy="314325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isImport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flow.value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&gt;= 0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color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if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isImport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then red else blue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strokeWidth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1.5 + min 20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(abs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flow.value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* 3.2)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Tooltip: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flow.value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=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physischer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CBPF-Fluss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flow.trade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=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kommerzieller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CBET-Handel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2752C70-7664-4DEC-B776-939C57CE0FBE}"/>
              </a:ext>
            </a:extLst>
          </p:cNvPr>
          <p:cNvSpPr>
            <a:spLocks noGrp="1"/>
          </p:cNvSpPr>
          <p:nvPr/>
        </p:nvSpPr>
        <p:spPr>
          <a:xfrm>
            <a:off x="6096000" y="1314450"/>
            <a:ext cx="542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FlowNetwork.elm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F787557-3AEE-4128-A819-9AC6BB307082}"/>
              </a:ext>
            </a:extLst>
          </p:cNvPr>
          <p:cNvSpPr>
            <a:spLocks noGrp="1"/>
          </p:cNvSpPr>
          <p:nvPr/>
        </p:nvSpPr>
        <p:spPr>
          <a:xfrm>
            <a:off x="6096000" y="4905375"/>
            <a:ext cx="5429250" cy="1333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/>
          </a:bodyPr>
          <a:lstStyle/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flow.value trägt Vorzeichen und Betrag in GW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abs entfernt nur das Vorzeichen und liefert die Stärke des Flusses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Die Linienbreite nutzt den Betrag, während Farbe und Pfeilrichtung das Vorzeichen zeigen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Der Tooltip trennt physischen Fluss und Handel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B1C9538-3D47-4C6A-B7A8-39D19434220A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1799695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6819566B-0573-4987-A050-5EF1DE34BDD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Zeitreihe für Erzeugung und Länderfluss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4D1110A-F532-4B71-B3C3-10A7DB7C02F8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F6480DE-A586-4F66-B693-B72E936FDF28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4C68940-C6A4-44B4-BFFD-85772674DA6E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3571875" cy="28575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 fontScale="92500" lnSpcReduction="20000"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renewTop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sample.generation.renewables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coalTop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renewTop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+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sample.generation.coal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gasTop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coalTop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+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sample.generation.gas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otherTop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 =    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gasTop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        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+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sample.generation.other</a:t>
            </a: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flowFor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country</a:t>
            </a:r>
            <a:r>
              <a:rPr lang="de-DE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sample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5CA2C3F-14E7-43B1-B15E-5E5579943115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3571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TimeSeries.elm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B845BEE-87DD-4F67-B290-FD2BA589F68B}"/>
              </a:ext>
            </a:extLst>
          </p:cNvPr>
          <p:cNvSpPr>
            <a:spLocks noGrp="1"/>
          </p:cNvSpPr>
          <p:nvPr/>
        </p:nvSpPr>
        <p:spPr>
          <a:xfrm>
            <a:off x="476250" y="4667250"/>
            <a:ext cx="3714750" cy="1428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/>
          </a:bodyPr>
          <a:lstStyle/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Kumulierte Obergrenzen erzeugen die gestapelten Flächen</a:t>
            </a:r>
          </a:p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Der Länderfluss erhält eine eigene symmetrische GW-Skala</a:t>
            </a:r>
          </a:p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Der Preis bleibt als Detailwert in EUR/MWh getrennt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15924" y="1143000"/>
            <a:ext cx="6427301" cy="509587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8099314A-0DB3-4CF3-B97D-399D9E317206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90535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6DB6F84C-13A9-46F4-BF03-6AF0C56E713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Pixelmatrix für Länder und Stunden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16F8EAE-4F7C-49CF-B872-CBFD0F1663BB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E2DC777-10C3-432D-A425-968465D1AABF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789244"/>
            <a:ext cx="6810375" cy="3089012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5EF52F5-1F67-4533-AD02-9E079AE9ECC1}"/>
              </a:ext>
            </a:extLst>
          </p:cNvPr>
          <p:cNvSpPr>
            <a:spLocks noGrp="1"/>
          </p:cNvSpPr>
          <p:nvPr/>
        </p:nvSpPr>
        <p:spPr>
          <a:xfrm>
            <a:off x="7620000" y="1476375"/>
            <a:ext cx="3905250" cy="2809875"/>
          </a:xfrm>
          <a:prstGeom prst="roundRect">
            <a:avLst>
              <a:gd name="adj" fmla="val 4068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maxAbs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allFlows</a:t>
            </a:r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|&gt;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List.map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abs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|&gt;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List.maximum</a:t>
            </a:r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value =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flowFor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country sample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ratio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min 1 (abs value /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maxAbs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colorFor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maxAbs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value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FF08EE0-B900-485F-9493-C029063AEA60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3905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FlowMatrix.elm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A0E6B3-B214-47A7-B024-37D0F6A059B4}"/>
              </a:ext>
            </a:extLst>
          </p:cNvPr>
          <p:cNvSpPr>
            <a:spLocks noGrp="1"/>
          </p:cNvSpPr>
          <p:nvPr/>
        </p:nvSpPr>
        <p:spPr>
          <a:xfrm>
            <a:off x="7572375" y="4524375"/>
            <a:ext cx="4000500" cy="1524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 fontScale="98286"/>
          </a:bodyPr>
          <a:lstStyle/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value ist der physische Fluss einer Zelle in GW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maxAbs ist der größte Betrag im gesamten Monat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ratio liegt zwischen 0 und 1 und steuert die Farbstärke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82433"/>
                </a:solidFill>
                <a:latin typeface="Arial"/>
                <a:ea typeface="Arial"/>
                <a:cs typeface="Arial"/>
              </a:rPr>
              <a:t>Vorzeichen wählt Rot für Import oder Blau für Export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244616C-ED9D-43B5-87DD-6CD0A175151B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104928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ED939E8A-6789-43B0-9D8A-E5B9155BFF9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Elm-Architektur und Module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CF63A51-79B8-4E62-9ABF-B3DC9B4C845F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E154E21-82B6-4220-B64F-D84A28CF4DE9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DA9325C-78BB-4486-9370-D5BC1679664B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2190750" cy="95250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0B60ED0-DE5A-4A84-B059-25B93A7037FF}"/>
              </a:ext>
            </a:extLst>
          </p:cNvPr>
          <p:cNvSpPr>
            <a:spLocks noGrp="1"/>
          </p:cNvSpPr>
          <p:nvPr/>
        </p:nvSpPr>
        <p:spPr>
          <a:xfrm>
            <a:off x="3381375" y="1114425"/>
            <a:ext cx="2381250" cy="952500"/>
          </a:xfrm>
          <a:prstGeom prst="roundRect">
            <a:avLst>
              <a:gd name="adj" fmla="val 12000"/>
            </a:avLst>
          </a:prstGeom>
          <a:solidFill>
            <a:srgbClr val="EEF5EA"/>
          </a:solidFill>
          <a:ln w="19050">
            <a:solidFill>
              <a:srgbClr val="63A35C"/>
            </a:solidFill>
            <a:prstDash val="solid"/>
          </a:ln>
        </p:spPr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7097EA3-74C7-4FCF-B0D7-5D1AD0BB753E}"/>
              </a:ext>
            </a:extLst>
          </p:cNvPr>
          <p:cNvSpPr>
            <a:spLocks noGrp="1"/>
          </p:cNvSpPr>
          <p:nvPr/>
        </p:nvSpPr>
        <p:spPr>
          <a:xfrm>
            <a:off x="6524625" y="1190625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FFF4D0"/>
          </a:solidFill>
          <a:ln w="19050">
            <a:solidFill>
              <a:srgbClr val="D39A00"/>
            </a:solidFill>
            <a:prstDash val="solid"/>
          </a:ln>
        </p:spPr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A88732-6E4A-4DC0-9798-6C5E8EF66537}"/>
              </a:ext>
            </a:extLst>
          </p:cNvPr>
          <p:cNvSpPr>
            <a:spLocks noGrp="1"/>
          </p:cNvSpPr>
          <p:nvPr/>
        </p:nvSpPr>
        <p:spPr>
          <a:xfrm>
            <a:off x="857250" y="16002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7222"/>
          </a:bodyPr>
          <a:lstStyle/>
          <a:p>
            <a:pPr algn="ctr">
              <a:defRPr sz="180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9324A"/>
                </a:solidFill>
                <a:latin typeface="Arial"/>
                <a:ea typeface="Arial"/>
                <a:cs typeface="Arial"/>
              </a:rPr>
              <a:t>Api.elm</a:t>
            </a:r>
            <a:endParaRPr sz="1800" b="1" dirty="0">
              <a:solidFill>
                <a:srgbClr val="1932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F73B6A1-2295-45F8-B7BD-C60AD9CF8748}"/>
              </a:ext>
            </a:extLst>
          </p:cNvPr>
          <p:cNvSpPr>
            <a:spLocks noGrp="1"/>
          </p:cNvSpPr>
          <p:nvPr/>
        </p:nvSpPr>
        <p:spPr>
          <a:xfrm>
            <a:off x="881063" y="20097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HTTP + JSON-Decoder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011928-1BF0-4D6E-8F0C-BE9AB01E919A}"/>
              </a:ext>
            </a:extLst>
          </p:cNvPr>
          <p:cNvSpPr>
            <a:spLocks noGrp="1"/>
          </p:cNvSpPr>
          <p:nvPr/>
        </p:nvSpPr>
        <p:spPr>
          <a:xfrm>
            <a:off x="3619500" y="14478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7222"/>
          </a:bodyPr>
          <a:lstStyle/>
          <a:p>
            <a:pPr algn="ctr">
              <a:defRPr sz="180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Domain.elm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0D2CCE7-85B4-4BFC-B84C-ADB944B4EF92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2500"/>
          </a:bodyPr>
          <a:lstStyle/>
          <a:p>
            <a:pPr algn="ctr"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Datentypen</a:t>
            </a:r>
            <a:r>
              <a:rPr sz="1275" b="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 und </a:t>
            </a:r>
            <a:r>
              <a:rPr lang="de-DE" sz="1275" b="0" dirty="0">
                <a:solidFill>
                  <a:srgbClr val="182433"/>
                </a:solidFill>
                <a:latin typeface="Arial"/>
                <a:ea typeface="Arial"/>
                <a:cs typeface="Arial"/>
              </a:rPr>
              <a:t>Funktionen</a:t>
            </a:r>
            <a:endParaRPr sz="1275" b="0" dirty="0">
              <a:solidFill>
                <a:srgbClr val="18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CA0489D-7E14-4D5A-BD6B-2BC1F2878F5A}"/>
              </a:ext>
            </a:extLst>
          </p:cNvPr>
          <p:cNvSpPr>
            <a:spLocks noGrp="1"/>
          </p:cNvSpPr>
          <p:nvPr/>
        </p:nvSpPr>
        <p:spPr>
          <a:xfrm>
            <a:off x="6810375" y="13906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3333"/>
          </a:bodyPr>
          <a:lstStyle/>
          <a:p>
            <a:pPr algn="ctr">
              <a:defRPr sz="1875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Main.elm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19D2FE-2A63-47F5-B285-29D982E9A774}"/>
              </a:ext>
            </a:extLst>
          </p:cNvPr>
          <p:cNvSpPr>
            <a:spLocks noGrp="1"/>
          </p:cNvSpPr>
          <p:nvPr/>
        </p:nvSpPr>
        <p:spPr>
          <a:xfrm>
            <a:off x="6762750" y="18002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Model · Msg · update · view</a:t>
            </a:r>
          </a:p>
        </p:txBody>
      </p:sp>
      <p:cxnSp>
        <p:nvCxnSpPr>
          <p:cNvPr id="41" name="Gerade Verbindung mit Pfeil 40"/>
          <p:cNvCxnSpPr>
            <a:cxnSpLocks/>
          </p:cNvCxnSpPr>
          <p:nvPr/>
        </p:nvCxnSpPr>
        <p:spPr>
          <a:xfrm>
            <a:off x="2857500" y="2238375"/>
            <a:ext cx="3667125" cy="0"/>
          </a:xfrm>
          <a:prstGeom prst="straightConnector1">
            <a:avLst/>
          </a:prstGeom>
          <a:ln w="28575">
            <a:solidFill>
              <a:srgbClr val="2F6DB2"/>
            </a:solidFill>
            <a:prstDash val="solid"/>
            <a:headEnd type="triangle" w="sm" len="sm"/>
          </a:ln>
        </p:spPr>
      </p:cxnSp>
      <p:cxnSp>
        <p:nvCxnSpPr>
          <p:cNvPr id="42" name="Gerade Verbindung mit Pfeil 41"/>
          <p:cNvCxnSpPr>
            <a:stCxn id="5" idx="3"/>
            <a:endCxn id="6" idx="1"/>
          </p:cNvCxnSpPr>
          <p:nvPr/>
        </p:nvCxnSpPr>
        <p:spPr>
          <a:xfrm>
            <a:off x="5762625" y="1590675"/>
            <a:ext cx="762000" cy="171450"/>
          </a:xfrm>
          <a:prstGeom prst="straightConnector1">
            <a:avLst/>
          </a:prstGeom>
          <a:ln w="28575">
            <a:solidFill>
              <a:srgbClr val="63A35C"/>
            </a:solidFill>
            <a:prstDash val="solid"/>
            <a:headEnd type="triangle" w="sm" len="sm"/>
          </a:ln>
        </p:spPr>
      </p:cxn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8749E4F-A296-4E2D-953C-E62064280552}"/>
              </a:ext>
            </a:extLst>
          </p:cNvPr>
          <p:cNvSpPr>
            <a:spLocks noGrp="1"/>
          </p:cNvSpPr>
          <p:nvPr/>
        </p:nvSpPr>
        <p:spPr>
          <a:xfrm>
            <a:off x="809625" y="3667125"/>
            <a:ext cx="2714625" cy="114300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BF1AE97-182D-4414-9DB0-836931A55202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28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FlowNetwork.elm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3D4E508-D616-4904-8B3B-FA2386A096D9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Netzwerk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E8125BA-BA96-401E-B262-4EF5C5F4DD6B}"/>
              </a:ext>
            </a:extLst>
          </p:cNvPr>
          <p:cNvSpPr>
            <a:spLocks noGrp="1"/>
          </p:cNvSpPr>
          <p:nvPr/>
        </p:nvSpPr>
        <p:spPr>
          <a:xfrm>
            <a:off x="3952875" y="3667125"/>
            <a:ext cx="2714625" cy="114300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8AEF83-5F23-46D8-AEA7-7F0A984C3178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2428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TimeSeries.elm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F6B4B1B-7A4F-4047-880B-401C4838C395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Zeitreihe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756D0992-861A-460B-81A5-215FEA998667}"/>
              </a:ext>
            </a:extLst>
          </p:cNvPr>
          <p:cNvSpPr>
            <a:spLocks noGrp="1"/>
          </p:cNvSpPr>
          <p:nvPr/>
        </p:nvSpPr>
        <p:spPr>
          <a:xfrm>
            <a:off x="7096125" y="3667125"/>
            <a:ext cx="2714625" cy="114300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0728B9A-CBCA-4947-8993-48E925EAB2ED}"/>
              </a:ext>
            </a:extLst>
          </p:cNvPr>
          <p:cNvSpPr>
            <a:spLocks noGrp="1"/>
          </p:cNvSpPr>
          <p:nvPr/>
        </p:nvSpPr>
        <p:spPr>
          <a:xfrm>
            <a:off x="7239000" y="3905250"/>
            <a:ext cx="2428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FlowMatrix.elm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8E1B7F8-B305-4A99-AB57-21C086C0E1F2}"/>
              </a:ext>
            </a:extLst>
          </p:cNvPr>
          <p:cNvSpPr>
            <a:spLocks noGrp="1"/>
          </p:cNvSpPr>
          <p:nvPr/>
        </p:nvSpPr>
        <p:spPr>
          <a:xfrm>
            <a:off x="7239000" y="43243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Pixelmatrix</a:t>
            </a:r>
          </a:p>
        </p:txBody>
      </p:sp>
      <p:cxnSp>
        <p:nvCxnSpPr>
          <p:cNvPr id="52" name="Verbinder: gewinkelt 51"/>
          <p:cNvCxnSpPr>
            <a:stCxn id="6" idx="2"/>
            <a:endCxn id="15" idx="0"/>
          </p:cNvCxnSpPr>
          <p:nvPr/>
        </p:nvCxnSpPr>
        <p:spPr>
          <a:xfrm flipH="1">
            <a:off x="2166938" y="2333625"/>
            <a:ext cx="5691188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C3AED"/>
            </a:solidFill>
            <a:prstDash val="solid"/>
            <a:headEnd type="triangle" w="sm" len="sm"/>
          </a:ln>
        </p:spPr>
      </p:cxnSp>
      <p:cxnSp>
        <p:nvCxnSpPr>
          <p:cNvPr id="53" name="Verbinder: gewinkelt 52"/>
          <p:cNvCxnSpPr>
            <a:stCxn id="6" idx="2"/>
            <a:endCxn id="18" idx="0"/>
          </p:cNvCxnSpPr>
          <p:nvPr/>
        </p:nvCxnSpPr>
        <p:spPr>
          <a:xfrm flipH="1">
            <a:off x="5310188" y="2333625"/>
            <a:ext cx="2547938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C3AED"/>
            </a:solidFill>
            <a:prstDash val="solid"/>
            <a:headEnd type="triangle" w="sm" len="sm"/>
          </a:ln>
        </p:spPr>
      </p:cxnSp>
      <p:cxnSp>
        <p:nvCxnSpPr>
          <p:cNvPr id="54" name="Verbinder: gewinkelt 53"/>
          <p:cNvCxnSpPr>
            <a:cxnSpLocks/>
          </p:cNvCxnSpPr>
          <p:nvPr/>
        </p:nvCxnSpPr>
        <p:spPr>
          <a:xfrm>
            <a:off x="7858125" y="2319338"/>
            <a:ext cx="595313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C3AED"/>
            </a:solidFill>
            <a:prstDash val="solid"/>
            <a:headEnd type="triangle" w="sm" len="sm"/>
          </a:ln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2DD97AE3-A44E-4FBC-8D2B-6ED69959C6C6}"/>
              </a:ext>
            </a:extLst>
          </p:cNvPr>
          <p:cNvSpPr>
            <a:spLocks noGrp="1"/>
          </p:cNvSpPr>
          <p:nvPr/>
        </p:nvSpPr>
        <p:spPr>
          <a:xfrm>
            <a:off x="1047750" y="5381625"/>
            <a:ext cx="9810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9843"/>
          </a:bodyPr>
          <a:lstStyle/>
          <a:p>
            <a:pPr algn="ctr">
              <a:defRPr sz="16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lang="de-DE" sz="1650" b="1" dirty="0">
                <a:solidFill>
                  <a:srgbClr val="19324A"/>
                </a:solidFill>
                <a:latin typeface="Arial"/>
              </a:rPr>
              <a:t>Benutzerereignisse </a:t>
            </a:r>
            <a:endParaRPr sz="1650" b="1" dirty="0">
              <a:solidFill>
                <a:srgbClr val="1932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994A93F-D61C-467E-AA3D-FEE4C3514A11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26536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62C59BF8-4BA0-4988-8568-4A8D41EDF2F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25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Zustand und Kopplung der Ansichten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5BE713-6768-4831-A455-ACF8D3F1A0F1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11087100" cy="285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005C887-6660-4E47-90D6-50424B1021A4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defRPr sz="1350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3C131E3-90CC-48E8-A336-90ABF3DC72E0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4810125" cy="342900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type alias State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{ dataset : Dataset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,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selectedIndex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: Int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,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selectedPartner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: Maybe String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,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windowStart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: Int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,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windowSize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: Int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}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type Msg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=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SelectPartner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String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|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SelectTime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Int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|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SelectCell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String Int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2139BC9-9DF6-4145-B3F7-C45E26C844BB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481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Main.elm: gemeinsamer State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C4BFFD4-0D20-4283-8DB1-486ADFF11C2E}"/>
              </a:ext>
            </a:extLst>
          </p:cNvPr>
          <p:cNvSpPr>
            <a:spLocks noGrp="1"/>
          </p:cNvSpPr>
          <p:nvPr/>
        </p:nvSpPr>
        <p:spPr>
          <a:xfrm>
            <a:off x="6715125" y="1381125"/>
            <a:ext cx="4810125" cy="342900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114300" rIns="133350" bIns="114300" anchor="ctr">
            <a:normAutofit/>
          </a:bodyPr>
          <a:lstStyle/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globalIndex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windowStart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+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localIndex</a:t>
            </a:r>
            <a:endParaRPr lang="en-US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onClick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SelectCell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country </a:t>
            </a:r>
            <a:r>
              <a:rPr lang="en-US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globalIndex</a:t>
            </a:r>
            <a:r>
              <a:rPr lang="en-US"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lang="de-DE"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(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SelectCell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country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globalIndex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Ready state ) -&gt;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Ready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{ state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    |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selectedPartner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 Just country</a:t>
            </a: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    , 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selectedIndex</a:t>
            </a: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= </a:t>
            </a:r>
            <a:r>
              <a:rPr lang="de-DE"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gloablI</a:t>
            </a:r>
            <a:r>
              <a:rPr sz="12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ndex</a:t>
            </a:r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}</a:t>
            </a:r>
          </a:p>
          <a:p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>
              <a:defRPr sz="12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endParaRPr sz="12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DFD5749-0289-4609-8A7C-CD684D9EFE3A}"/>
              </a:ext>
            </a:extLst>
          </p:cNvPr>
          <p:cNvSpPr>
            <a:spLocks noGrp="1"/>
          </p:cNvSpPr>
          <p:nvPr/>
        </p:nvSpPr>
        <p:spPr>
          <a:xfrm>
            <a:off x="6715125" y="1123950"/>
            <a:ext cx="481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125" b="1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776"/>
                </a:solidFill>
                <a:latin typeface="Arial"/>
                <a:ea typeface="Arial"/>
                <a:cs typeface="Arial"/>
              </a:rPr>
              <a:t>Matrixklick und Indexumrechnung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1ABCE13-C31D-4513-92D2-BECDF410F2A5}"/>
              </a:ext>
            </a:extLst>
          </p:cNvPr>
          <p:cNvSpPr>
            <a:spLocks noGrp="1"/>
          </p:cNvSpPr>
          <p:nvPr/>
        </p:nvSpPr>
        <p:spPr>
          <a:xfrm>
            <a:off x="1238250" y="5286375"/>
            <a:ext cx="495300" cy="495300"/>
          </a:xfrm>
          <a:prstGeom prst="ellipse">
            <a:avLst/>
          </a:prstGeom>
          <a:solidFill>
            <a:srgbClr val="2F6DB2"/>
          </a:solidFill>
          <a:ln w="0">
            <a:noFill/>
          </a:ln>
        </p:spPr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9BD0EE9-9D9B-4A88-9D36-4CA0268B0458}"/>
              </a:ext>
            </a:extLst>
          </p:cNvPr>
          <p:cNvSpPr>
            <a:spLocks noGrp="1"/>
          </p:cNvSpPr>
          <p:nvPr/>
        </p:nvSpPr>
        <p:spPr>
          <a:xfrm>
            <a:off x="1238250" y="5381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3C7FEEB-78D8-4E50-AB80-EB6EF4A42238}"/>
              </a:ext>
            </a:extLst>
          </p:cNvPr>
          <p:cNvSpPr>
            <a:spLocks noGrp="1"/>
          </p:cNvSpPr>
          <p:nvPr/>
        </p:nvSpPr>
        <p:spPr>
          <a:xfrm>
            <a:off x="1847850" y="5305425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Klick erzeugt Msg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E5EDB8-777D-4F31-93D8-8B76B627A0A7}"/>
              </a:ext>
            </a:extLst>
          </p:cNvPr>
          <p:cNvSpPr>
            <a:spLocks noGrp="1"/>
          </p:cNvSpPr>
          <p:nvPr/>
        </p:nvSpPr>
        <p:spPr>
          <a:xfrm>
            <a:off x="4667250" y="5286375"/>
            <a:ext cx="495300" cy="495300"/>
          </a:xfrm>
          <a:prstGeom prst="ellipse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4AD4A58-09FE-41A2-BCCF-2A0FEBA0D6F5}"/>
              </a:ext>
            </a:extLst>
          </p:cNvPr>
          <p:cNvSpPr>
            <a:spLocks noGrp="1"/>
          </p:cNvSpPr>
          <p:nvPr/>
        </p:nvSpPr>
        <p:spPr>
          <a:xfrm>
            <a:off x="4667250" y="5381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237D4BF-4AA9-416B-A2F4-5A4C44A46ABA}"/>
              </a:ext>
            </a:extLst>
          </p:cNvPr>
          <p:cNvSpPr>
            <a:spLocks noGrp="1"/>
          </p:cNvSpPr>
          <p:nvPr/>
        </p:nvSpPr>
        <p:spPr>
          <a:xfrm>
            <a:off x="5276850" y="5305425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update erzeugt neuen State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F2BF842-306B-40FC-9609-6EB56A957F06}"/>
              </a:ext>
            </a:extLst>
          </p:cNvPr>
          <p:cNvSpPr>
            <a:spLocks noGrp="1"/>
          </p:cNvSpPr>
          <p:nvPr/>
        </p:nvSpPr>
        <p:spPr>
          <a:xfrm>
            <a:off x="8096250" y="5286375"/>
            <a:ext cx="495300" cy="4953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A986551-08D5-4022-838A-A09812E73567}"/>
              </a:ext>
            </a:extLst>
          </p:cNvPr>
          <p:cNvSpPr>
            <a:spLocks noGrp="1"/>
          </p:cNvSpPr>
          <p:nvPr/>
        </p:nvSpPr>
        <p:spPr>
          <a:xfrm>
            <a:off x="8096250" y="5381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C404F76-105E-4E1E-95B3-E29ACC1F2389}"/>
              </a:ext>
            </a:extLst>
          </p:cNvPr>
          <p:cNvSpPr>
            <a:spLocks noGrp="1"/>
          </p:cNvSpPr>
          <p:nvPr/>
        </p:nvSpPr>
        <p:spPr>
          <a:xfrm>
            <a:off x="8705850" y="5305425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view rendert alle Ansichten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83DBC25-0314-446A-8019-2905141A0FC0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900" b="0">
                <a:solidFill>
                  <a:srgbClr val="5B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6"/>
                </a:solidFill>
                <a:latin typeface="Arial"/>
                <a:ea typeface="Arial"/>
                <a:cs typeface="Arial"/>
              </a:rPr>
              <a:t>Informationsvisualisierung · Jann Körner</a:t>
            </a:r>
          </a:p>
        </p:txBody>
      </p:sp>
    </p:spTree>
    <p:extLst>
      <p:ext uri="{BB962C8B-B14F-4D97-AF65-F5344CB8AC3E}">
        <p14:creationId xmlns:p14="http://schemas.microsoft.com/office/powerpoint/2010/main" val="1717610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81EC888-CDA2-41D2-AC45-9477FA37CD44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Fazit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D99EF77-132B-4B09-9CA0-288FAA648B6E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001250" cy="2857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38100" bIns="19050" anchor="t">
            <a:normAutofit/>
          </a:bodyPr>
          <a:lstStyle/>
          <a:p>
            <a:pPr marL="228600" indent="-114300">
              <a:spcAft>
                <a:spcPts val="1400"/>
              </a:spcAft>
              <a:buChar char="•"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 Netzwerkgraph zeigt Richtung und Stärke der Länderflüsse für eine Stunde.</a:t>
            </a:r>
          </a:p>
          <a:p>
            <a:pPr marL="228600" indent="-114300">
              <a:spcAft>
                <a:spcPts val="1400"/>
              </a:spcAft>
              <a:buChar char="•"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Die Zeitreihe verbindet Erzeugungsmix mit dem ausgewählten Länderfluss und dem Preisdetail.</a:t>
            </a:r>
          </a:p>
          <a:p>
            <a:pPr marL="228600" indent="-114300">
              <a:spcAft>
                <a:spcPts val="1400"/>
              </a:spcAft>
              <a:buChar char="•"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Die Pixelmatrix verdichtet 8.184 Werte und dient zugleich als Auswahlwerkzeug.</a:t>
            </a:r>
          </a:p>
          <a:p>
            <a:pPr marL="228600" indent="-114300">
              <a:spcAft>
                <a:spcPts val="1400"/>
              </a:spcAft>
              <a:buChar char="•"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 gemeinsame Elm-State hält Land, Stunde und Zeitfenster in allen Ansichten konsistent.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6AB2F98-5468-4680-9DCD-176CF79A62C8}"/>
              </a:ext>
            </a:extLst>
          </p:cNvPr>
          <p:cNvSpPr>
            <a:spLocks noGrp="1"/>
          </p:cNvSpPr>
          <p:nvPr/>
        </p:nvSpPr>
        <p:spPr>
          <a:xfrm>
            <a:off x="857250" y="4905375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350" b="1">
                <a:solidFill>
                  <a:srgbClr val="F2C9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Interaktive Anwendung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3691A1-8943-4857-8C3B-2C2CA63287DE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energiechart-visualisierungsprojekt-df4c3b.gpages-lehre.informatik.uni-halle.de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8D1C5D4-3D86-4CF6-90D0-E12227EA4012}"/>
              </a:ext>
            </a:extLst>
          </p:cNvPr>
          <p:cNvSpPr>
            <a:spLocks noGrp="1"/>
          </p:cNvSpPr>
          <p:nvPr/>
        </p:nvSpPr>
        <p:spPr>
          <a:xfrm>
            <a:off x="857250" y="58578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defRPr sz="1350" b="1">
                <a:solidFill>
                  <a:srgbClr val="F2C9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Quellcode und Bericht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655999F-DF76-47C3-9ACC-4113E8B29506}"/>
              </a:ext>
            </a:extLst>
          </p:cNvPr>
          <p:cNvSpPr>
            <a:spLocks noGrp="1"/>
          </p:cNvSpPr>
          <p:nvPr/>
        </p:nvSpPr>
        <p:spPr>
          <a:xfrm>
            <a:off x="857250" y="61912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gitlab-lehre.informatik.uni-halle.de/</a:t>
            </a:r>
            <a:r>
              <a:rPr sz="13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aquhr</a:t>
            </a:r>
            <a:r>
              <a:rPr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</a:t>
            </a:r>
            <a:r>
              <a:rPr sz="13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energiechart-visualisierungsprojekt</a:t>
            </a: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13583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1739</Words>
  <Application>Microsoft Office PowerPoint</Application>
  <DocSecurity>0</DocSecurity>
  <PresentationFormat>Breitbild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Jann Körner</cp:lastModifiedBy>
  <cp:revision>5</cp:revision>
  <dcterms:created xsi:type="dcterms:W3CDTF">2026-10-06T09:53:21Z</dcterms:created>
  <dcterms:modified xsi:type="dcterms:W3CDTF">2026-10-08T09:07:28Z</dcterms:modified>
</cp:coreProperties>
</file>